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11111"/>
                </a:solidFill>
                <a:latin typeface="Arial"/>
              </a:rPr>
              <a:t>Рис. 7.1 — Offline-метрики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MAE, м/с</c:v>
                </c:pt>
              </c:strCache>
            </c:strRef>
          </c:tx>
          <c:spPr>
            <a:solidFill>
              <a:srgbClr val="770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MLP</c:v>
                  </c:pt>
                  <c:pt idx="1">
                    <c:v>SAC</c:v>
                  </c:pt>
                  <c:pt idx="2">
                    <c:v>TD3</c:v>
                  </c:pt>
                  <c:pt idx="3">
                    <c:v>PPO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0.327</c:v>
                </c:pt>
                <c:pt idx="1">
                  <c:v>0.354</c:v>
                </c:pt>
                <c:pt idx="2">
                  <c:v>0.366</c:v>
                </c:pt>
                <c:pt idx="3">
                  <c:v>0.361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RMSE, м/с</c:v>
                </c:pt>
              </c:strCache>
            </c:strRef>
          </c:tx>
          <c:spPr>
            <a:solidFill>
              <a:srgbClr val="BBB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MLP</c:v>
                  </c:pt>
                  <c:pt idx="1">
                    <c:v>SAC</c:v>
                  </c:pt>
                  <c:pt idx="2">
                    <c:v>TD3</c:v>
                  </c:pt>
                  <c:pt idx="3">
                    <c:v>PPO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0.544</c:v>
                </c:pt>
                <c:pt idx="1">
                  <c:v>0.557</c:v>
                </c:pt>
                <c:pt idx="2">
                  <c:v>0.566</c:v>
                </c:pt>
                <c:pt idx="3">
                  <c:v>0.568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11111"/>
                </a:solidFill>
                <a:latin typeface="Arial"/>
              </a:rPr>
              <a:t>Рис. 8.1 — Коэффициент ускорения (отн. V*=const)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spiral_r3</c:v>
                  </c:pt>
                  <c:pt idx="1">
                    <c:v>circle_r3z5</c:v>
                  </c:pt>
                  <c:pt idx="2">
                    <c:v>helix_r2</c:v>
                  </c:pt>
                  <c:pt idx="3">
                    <c:v>line_diag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2.114</c:v>
                </c:pt>
                <c:pt idx="1">
                  <c:v>2.506</c:v>
                </c:pt>
                <c:pt idx="2">
                  <c:v>1.837</c:v>
                </c:pt>
                <c:pt idx="3">
                  <c:v>1.918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SAC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spiral_r3</c:v>
                  </c:pt>
                  <c:pt idx="1">
                    <c:v>circle_r3z5</c:v>
                  </c:pt>
                  <c:pt idx="2">
                    <c:v>helix_r2</c:v>
                  </c:pt>
                  <c:pt idx="3">
                    <c:v>line_diag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1.111</c:v>
                </c:pt>
                <c:pt idx="1">
                  <c:v>1.284</c:v>
                </c:pt>
                <c:pt idx="2">
                  <c:v>1.004</c:v>
                </c:pt>
                <c:pt idx="3">
                  <c:v>1.098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TD3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spiral_r3</c:v>
                  </c:pt>
                  <c:pt idx="1">
                    <c:v>circle_r3z5</c:v>
                  </c:pt>
                  <c:pt idx="2">
                    <c:v>helix_r2</c:v>
                  </c:pt>
                  <c:pt idx="3">
                    <c:v>line_diag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1.178</c:v>
                </c:pt>
                <c:pt idx="1">
                  <c:v>1.716</c:v>
                </c:pt>
                <c:pt idx="2">
                  <c:v>1.029</c:v>
                </c:pt>
                <c:pt idx="3">
                  <c:v>1.171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PPO</c:v>
                </c:pt>
              </c:strCache>
            </c:strRef>
          </c:tx>
          <c:spPr>
            <a:solidFill>
              <a:srgbClr val="770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spiral_r3</c:v>
                  </c:pt>
                  <c:pt idx="1">
                    <c:v>circle_r3z5</c:v>
                  </c:pt>
                  <c:pt idx="2">
                    <c:v>helix_r2</c:v>
                  </c:pt>
                  <c:pt idx="3">
                    <c:v>line_diag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1.608</c:v>
                </c:pt>
                <c:pt idx="1">
                  <c:v>2.262</c:v>
                </c:pt>
                <c:pt idx="2">
                  <c:v>1.416</c:v>
                </c:pt>
                <c:pt idx="3">
                  <c:v>1.694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560320"/>
            <a:ext cx="4114800" cy="4114800"/>
          </a:xfrm>
          <a:prstGeom prst="ellipse">
            <a:avLst/>
          </a:prstGeom>
          <a:solidFill>
            <a:srgbClr val="7700FF">
              <a:alpha val="90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C00CC">
              <a:alpha val="80000"/>
            </a:srgbClr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005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ИТМО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346704" y="8869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Интеллектуальное управление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траекторным движением квадрокоптера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основе нейросетевого выбора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параметрической скорости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3886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Студент:  Иванов Иван Иванович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4206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Руководитель:  Ким С. А.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45720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Факультет СУиР  •  ИТМО  •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70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164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ИТМО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07808" y="12801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9184" y="713232"/>
            <a:ext cx="8595360" cy="4251960"/>
          </a:xfrm>
          <a:prstGeom prst="roundRect">
            <a:avLst>
              <a:gd name="adj" fmla="val 3226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"/>
            <a:ext cx="859536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0496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14400"/>
            <a:ext cx="457200" cy="45720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90525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Консерватизм фиксированной скорости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30759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V* = const → медленно на простых участках, неустойчиво на сложных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12848"/>
            <a:ext cx="457200" cy="45720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20370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Нелинейная динамика квадрокоптера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6060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Линейные методы не справляются при изменении кривизны траектории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374136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11296"/>
            <a:ext cx="457200" cy="45720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50215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Гибридный подход: аналитика + ML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90448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Нейросеть как надстройка сохраняет устойчивость и ускоряет движение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70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164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ИТМО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07808" y="12801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9184" y="713232"/>
            <a:ext cx="8595360" cy="4251960"/>
          </a:xfrm>
          <a:prstGeom prst="roundRect">
            <a:avLst>
              <a:gd name="adj" fmla="val 3226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"/>
            <a:ext cx="859536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0496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749808"/>
            <a:ext cx="8321040" cy="685800"/>
          </a:xfrm>
          <a:prstGeom prst="roundRect">
            <a:avLst>
              <a:gd name="adj" fmla="val 10667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777240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Разработать систему: аналитический регулятор + нейросетевой модуль адаптивного выбора V*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536192"/>
            <a:ext cx="83210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609344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1.  Реализовать базовый аналитический регулятор траекторного слежения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148840"/>
            <a:ext cx="83210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2199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2.  Сформировать датасет:  состояние системы  →  допустимая скорость V*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61488"/>
            <a:ext cx="83210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834640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3.  Обучить четыре модели:  MLP,  SAC,  TD3,  PPO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74136"/>
            <a:ext cx="83210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4728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4.  Интегрировать обученные модели в замкнутый контур симуляции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86784"/>
            <a:ext cx="83210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059936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5.  Сравнить все модели на воспроизводимом наборе тестовых траекторий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164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ИТМО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07808" y="128016"/>
            <a:ext cx="100584" cy="1005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Двухуровневая архитектура системы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1463040"/>
          </a:xfrm>
          <a:prstGeom prst="roundRect">
            <a:avLst>
              <a:gd name="adj" fmla="val 7500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498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ВЕРХНИЙ УРОВЕНЬ — нейросетевой модуль выбора скорости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Вектор признаков 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115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1752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</a:rPr>
              <a:t>Модель (MLP / SAC / TD3 / PPO)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1115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11155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00"/>
                </a:solidFill>
              </a:rPr>
              <a:t>V*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26771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↓   V* → ограничитель темпа → sref(t) = ∫V*(τ)dτ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1463040"/>
          </a:xfrm>
          <a:prstGeom prst="roundRect">
            <a:avLst>
              <a:gd name="adj" fmla="val 7500"/>
            </a:avLst>
          </a:prstGeom>
          <a:solidFill>
            <a:srgbClr val="00AA55"/>
          </a:solidFill>
          <a:ln w="12700">
            <a:solidFill>
              <a:srgbClr val="00A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614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НИЖНИЙ УРОВЕНЬ — аналитический регулятор (Ким С.А., 2024)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17296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FFEE"/>
                </a:solidFill>
              </a:rPr>
              <a:t>Состояние квадрокоптера  →  ближайшая точка траектории  →  ошибки e₁, e₂  →  управление 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Нейросеть отвечает только за темп. Устойчивость — задача аналитического контура.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70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164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ИТМО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07808" y="12801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Формирование датасета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9184" y="713232"/>
            <a:ext cx="5029200" cy="4251960"/>
          </a:xfrm>
          <a:prstGeom prst="roundRect">
            <a:avLst>
              <a:gd name="adj" fmla="val 3226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"/>
            <a:ext cx="502920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74336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749808"/>
            <a:ext cx="4892040" cy="457200"/>
          </a:xfrm>
          <a:prstGeom prst="roundRect">
            <a:avLst>
              <a:gd name="adj" fmla="val 12000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77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 = [e₁  e₂  ė₂  ‖v‖  eₕ  κc  κmax]ᵀ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44168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7700FF">
              <a:alpha val="85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441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13624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Продольная ошибка (вдоль кривой)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773936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7700FF">
              <a:alpha val="85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739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17922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Поперечная ошибка (боковое отклонение)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203704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7700FF">
              <a:alpha val="85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037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ė₂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221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Скорость изменения e₂ (динамика)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633472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7700FF">
              <a:alpha val="85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3347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‖v‖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26517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Текущая линейная скорость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7700FF">
              <a:alpha val="85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63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0815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Угловое рассогласование с касательной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493008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7700FF">
              <a:alpha val="85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930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κc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35112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Локальная кривизна траектории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922776"/>
            <a:ext cx="640080" cy="329184"/>
          </a:xfrm>
          <a:prstGeom prst="roundRect">
            <a:avLst>
              <a:gd name="adj" fmla="val 13889"/>
            </a:avLst>
          </a:prstGeom>
          <a:solidFill>
            <a:srgbClr val="7700FF">
              <a:alpha val="85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227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κmax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39410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Макс. кривизна на горизонте упреждения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86984" y="713232"/>
            <a:ext cx="3291840" cy="4251960"/>
          </a:xfrm>
          <a:prstGeom prst="roundRect">
            <a:avLst>
              <a:gd name="adj" fmla="val 4167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32120" y="658368"/>
            <a:ext cx="3291840" cy="4251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94776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05272" y="749808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05272" y="7772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Оракульная процедура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131673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1. Генерация траектории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(прямая / окружность / спираль)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0" y="19842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700FF"/>
                </a:solidFill>
              </a:rPr>
              <a:t>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69280" y="216712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2. Возмущённое начальное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состояние дрона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58000" y="28346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700FF"/>
                </a:solidFill>
              </a:rPr>
              <a:t>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669280" y="30175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3. Перебор V*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→ проверка устойчивости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58000" y="3685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700FF"/>
                </a:solidFill>
              </a:rPr>
              <a:t>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669280" y="38679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4. Запись пары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</a:rPr>
              <a:t>(f, V*opt) в датасет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05272" y="4645152"/>
            <a:ext cx="3154680" cy="201168"/>
          </a:xfrm>
          <a:prstGeom prst="roundRect">
            <a:avLst>
              <a:gd name="adj" fmla="val 18182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05272" y="465429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κ ↔ V*opt: корреляция −0.83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164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ИТМО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07808" y="128016"/>
            <a:ext cx="100584" cy="1005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модели выбора скорости V*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40080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8F8F8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4008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88720"/>
            <a:ext cx="201168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83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133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Полносвязная сеть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Supervised regression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MSE-loss, Adam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16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Early stopping 80/20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87168" y="640080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8F8F8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64008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7168" y="1188720"/>
            <a:ext cx="201168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6583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32888" y="1133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Soft Actor-Critic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24328" y="1600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Стохастическая политика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24328" y="22585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Максимизация энтропии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24328" y="2916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Offline на датасете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54296" y="640080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8F8F8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54296" y="64008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54296" y="1188720"/>
            <a:ext cx="201168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6583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TD3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00016" y="1133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Twin Delayed DDPG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91456" y="1600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Детерминированная политика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22585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Два критика (anti Q-overest.)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91456" y="2916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Offline на датасете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21424" y="640080"/>
            <a:ext cx="2011680" cy="4206240"/>
          </a:xfrm>
          <a:prstGeom prst="roundRect">
            <a:avLst>
              <a:gd name="adj" fmla="val 5455"/>
            </a:avLst>
          </a:prstGeom>
          <a:solidFill>
            <a:srgbClr val="F8F8F8"/>
          </a:solidFill>
          <a:ln w="19050">
            <a:solidFill>
              <a:srgbClr val="7700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21424" y="64008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21424" y="1188720"/>
            <a:ext cx="2011680" cy="32004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67144" y="6583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PPO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67144" y="1133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Proximal Policy Opt.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58584" y="1600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Клиппинг обновления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58584" y="22585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Ограниченный шаг политики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58584" y="2916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Offline на датасете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4828032"/>
            <a:ext cx="8503920" cy="246888"/>
          </a:xfrm>
          <a:prstGeom prst="roundRect">
            <a:avLst>
              <a:gd name="adj" fmla="val 18519"/>
            </a:avLst>
          </a:prstGeom>
          <a:solidFill>
            <a:srgbClr val="7700FF">
              <a:alpha val="90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3717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Все модели:  вход f ∈ ℝ⁷  →  выход V* ∈ [Vmin, Vmax]  •  единый интерфейс вызова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70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164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ИТМО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07808" y="12801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Качество аппроксимации V*  (offline-метрики)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9184" y="713232"/>
            <a:ext cx="5074920" cy="4251960"/>
          </a:xfrm>
          <a:prstGeom prst="roundRect">
            <a:avLst>
              <a:gd name="adj" fmla="val 3226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"/>
            <a:ext cx="507492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0056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47472" y="749808"/>
          <a:ext cx="4892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632704" y="713232"/>
            <a:ext cx="3246120" cy="4251960"/>
          </a:xfrm>
          <a:prstGeom prst="roundRect">
            <a:avLst>
              <a:gd name="adj" fmla="val 4225"/>
            </a:avLst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658368"/>
            <a:ext cx="3246120" cy="425196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0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94776" y="76809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0" y="768096"/>
            <a:ext cx="30175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87568" y="8138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813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MLP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87568" y="112471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MAE = 0.33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Стабильное supervised-обучение; склонность к осторожным прогнозам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0" y="1773936"/>
            <a:ext cx="30175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1819656"/>
            <a:ext cx="274320" cy="2743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1819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SAC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87568" y="213055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MAE = 0.35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Плавная политика; устойчиво на всех геометриях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0" y="2779776"/>
            <a:ext cx="30175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87568" y="2825496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53328" y="28254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TD3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87568" y="31363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MAE = 0.37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Агрессивнее SAC; риск нестабильности на outliers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669280" y="3785616"/>
            <a:ext cx="301752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87568" y="3831336"/>
            <a:ext cx="274320" cy="27432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53328" y="38313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00FF"/>
                </a:solidFill>
              </a:rPr>
              <a:t>PPO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687568" y="41422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R² ≈ −0.98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Коллапс offline; компенсируется ограничителем в контуре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164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ИТМО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607808" y="128016"/>
            <a:ext cx="100584" cy="1005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на наборе бенчмарков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68580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035040" y="685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Таб. 8.1 — Итог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005840"/>
          <a:ext cx="2743200" cy="1920240"/>
        </p:xfrm>
        <a:graphic>
          <a:graphicData uri="http://schemas.openxmlformats.org/drawingml/2006/table">
            <a:tbl>
              <a:tblPr/>
              <a:tblGrid>
                <a:gridCol w="548640"/>
                <a:gridCol w="685800"/>
                <a:gridCol w="640080"/>
                <a:gridCol w="8686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Модель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Ускор.×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e₂,RMS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4/4 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00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65C0"/>
                          </a:solidFill>
                        </a:rPr>
                        <a:t>MLP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1.3–2.5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умер.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97B"/>
                          </a:solidFill>
                        </a:rPr>
                        <a:t>SAC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1.1–1.3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лучш.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700"/>
                          </a:solidFill>
                        </a:rPr>
                        <a:t>4/4 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TD3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1.2–1.7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хор.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700"/>
                          </a:solidFill>
                        </a:rPr>
                        <a:t>4/4 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700FF"/>
                          </a:solidFill>
                        </a:rPr>
                        <a:t>PPO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1.4–2.3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0000"/>
                          </a:solidFill>
                        </a:rPr>
                        <a:t>нест.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035040" y="30175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80760" y="3044952"/>
            <a:ext cx="26517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✓  SAC — наилучший баланс скорости и качества слежения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560320"/>
            <a:ext cx="4114800" cy="4114800"/>
          </a:xfrm>
          <a:prstGeom prst="ellipse">
            <a:avLst/>
          </a:prstGeom>
          <a:solidFill>
            <a:srgbClr val="7700FF">
              <a:alpha val="90000"/>
            </a:srgbClr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C00CC">
              <a:alpha val="80000"/>
            </a:srgbClr>
          </a:solidFill>
          <a:ln w="12700">
            <a:solidFill>
              <a:srgbClr val="CC0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32520" y="48463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BBBB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8321040" cy="0"/>
          </a:xfrm>
          <a:prstGeom prst="line">
            <a:avLst/>
          </a:prstGeom>
          <a:noFill/>
          <a:ln w="19050">
            <a:solidFill>
              <a:srgbClr val="770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749808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 w="10160">
            <a:solidFill>
              <a:srgbClr val="770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49808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749808"/>
            <a:ext cx="256032" cy="658368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74980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8412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Реализован двухуровневый комплекс: аналитический регулятор + нейросетевой модуль V*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5448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 w="10160">
            <a:solidFill>
              <a:srgbClr val="770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54480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1554480"/>
            <a:ext cx="256032" cy="658368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544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16459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Датасет с оракульной разметкой; ключевой признак — кривизна κ (корреляция −0.83)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 w="10160">
            <a:solidFill>
              <a:srgbClr val="770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59152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359152"/>
            <a:ext cx="256032" cy="658368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591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45059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Все четыре модели (MLP, SAC, TD3, PPO) превзошли baseline по средней скорости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63824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 w="10160">
            <a:solidFill>
              <a:srgbClr val="770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63824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163824"/>
            <a:ext cx="256032" cy="658368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6382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25526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SAC — наилучший баланс: ускорение 1.1–1.3×, стабильное слежение на 4/4 кривых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68496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1E1E1E"/>
          </a:solidFill>
          <a:ln w="10160">
            <a:solidFill>
              <a:srgbClr val="7700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968496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3968496"/>
            <a:ext cx="256032" cy="658368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6849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05993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Нейросеть как надстройка не нарушает устойчивость аналитического контура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2026-05-19T20:03:03Z</dcterms:created>
  <dcterms:modified xsi:type="dcterms:W3CDTF">2026-05-19T20:03:03Z</dcterms:modified>
</cp:coreProperties>
</file>