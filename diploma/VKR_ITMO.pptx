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olos Text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  <p:embeddedFont>
      <p:font typeface="Golos Text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24" Type="http://schemas.openxmlformats.org/officeDocument/2006/relationships/font" Target="fonts/GolosTextSemiBold-bold.fntdata"/><Relationship Id="rId12" Type="http://schemas.openxmlformats.org/officeDocument/2006/relationships/slide" Target="slides/slide7.xml"/><Relationship Id="rId23" Type="http://schemas.openxmlformats.org/officeDocument/2006/relationships/font" Target="fonts/GolosTex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losTex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GolosTex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37d50741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37d507417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7d50741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37d507417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8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6" name="Google Shape;86;p18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0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0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1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21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8" name="Google Shape;108;p21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9" name="Google Shape;109;p21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2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4" name="Google Shape;114;p22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5" name="Google Shape;115;p22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6" name="Google Shape;116;p22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7" name="Google Shape;117;p22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4" name="Google Shape;124;p23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5" name="Google Shape;125;p23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6" name="Google Shape;126;p23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3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0" name="Google Shape;130;p23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1" name="Google Shape;131;p23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199" y="283461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Студент: Соколов Дмитрий Алексеевич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Научный руководитель: Ким Станислав Александрович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Университет ИТМО, 2026</a:t>
            </a:r>
            <a:endParaRPr/>
          </a:p>
        </p:txBody>
      </p:sp>
      <p:sp>
        <p:nvSpPr>
          <p:cNvPr id="137" name="Google Shape;137;p24"/>
          <p:cNvSpPr txBox="1"/>
          <p:nvPr>
            <p:ph type="title"/>
          </p:nvPr>
        </p:nvSpPr>
        <p:spPr>
          <a:xfrm>
            <a:off x="457200" y="14545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93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Исследование интеллектуальных методов управления при траекторном движении в           пространстве для класса нелинейных систем</a:t>
            </a:r>
            <a:endParaRPr sz="2560"/>
          </a:p>
        </p:txBody>
      </p:sp>
      <p:sp>
        <p:nvSpPr>
          <p:cNvPr id="138" name="Google Shape;138;p24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Актуальность и проблема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10457" l="1986" r="2082" t="9900"/>
          <a:stretch/>
        </p:blipFill>
        <p:spPr>
          <a:xfrm>
            <a:off x="457200" y="1425650"/>
            <a:ext cx="7613125" cy="31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Постановка задачи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Цель: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Разработка системы траекторного управления квадрокоптером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с интеллектуальным выбором параметрической скорости.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Основные задачи: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реализовать аналитический регулятор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сформировать датасет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обучить ML-модели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встроить модели в контур управления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провести сравнительное тестирование</a:t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Архитектура решения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Траектория → Геометрический блок → Ошибки e₁, e₂, kappa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→ ML-модель → V* → Аналитический регулятор → Квадрокоптер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Исследуемые модели: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MLP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SAC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TD3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PPO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Нейросеть не управляет дроном напрямую,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а только выбирает допустимую скорость движения.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850" y="4348975"/>
            <a:ext cx="1745375" cy="4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8631175" y="4764375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Формирование датасета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-6524975" y="521118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Для каждого состояния квадрокоптера: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вычислялись ошибки слежения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оценивалась локальная кривизна траектории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подбиралось максимально допустимое значение Vopt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Используемые признаки: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e₁, e₂, de₂/dt, ||v||, heading error, κ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172" name="Google Shape;172;p28" title="dataset_features_sc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25" y="1159950"/>
            <a:ext cx="6459023" cy="2422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750" y="2557475"/>
            <a:ext cx="3405176" cy="218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Обучение моделей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-7010400" y="1165368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Сравнивались четыре подхода: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MLP — supervised learning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SAC — Soft Actor-Critic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TD3 — Twin Delayed DDPG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PPO — Proximal Policy Optimization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Средняя ошибка моделей: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MAE ≈ 0.35 м/с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RMSE ≈ 0.55–0.57 м/с</a:t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pic>
        <p:nvPicPr>
          <p:cNvPr id="182" name="Google Shape;182;p29" title="td3_lo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48225"/>
            <a:ext cx="6197581" cy="177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 title="td3_quali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6675" y="2818550"/>
            <a:ext cx="5722251" cy="18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Результаты экспериментов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-6249425" y="12740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Сценарии тестирования: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spiral_r3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circle_r3z5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helix_r2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line_diag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Результаты: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adaptive-speed ускоряет движение относительно baseline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PPO — наиболее агрессивная стратегия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SAC — лучший баланс скорости и качества слежения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192" name="Google Shape;192;p30" title="elliptic_traj_3d.png"/>
          <p:cNvPicPr preferRelativeResize="0"/>
          <p:nvPr/>
        </p:nvPicPr>
        <p:blipFill rotWithShape="1">
          <a:blip r:embed="rId3">
            <a:alphaModFix/>
          </a:blip>
          <a:srcRect b="0" l="17938" r="13044" t="0"/>
          <a:stretch/>
        </p:blipFill>
        <p:spPr>
          <a:xfrm>
            <a:off x="6067500" y="1680000"/>
            <a:ext cx="2684899" cy="233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 title="spiral_r3_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75" y="1131550"/>
            <a:ext cx="5783324" cy="19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 title="spiral_r3_veloc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2876050"/>
            <a:ext cx="5535000" cy="18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Итоговое сравнение моделей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-5923425" y="11343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MLP: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высокий прирост скорости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слабая устойчивость на unseen-геометриях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SAC: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наиболее стабильный результат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устойчивое слежение на всех сценариях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PPO: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максимальная скорость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повышенные поперечные ошибки</a:t>
            </a:r>
            <a:endParaRPr/>
          </a:p>
        </p:txBody>
      </p:sp>
      <p:sp>
        <p:nvSpPr>
          <p:cNvPr id="202" name="Google Shape;202;p31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pic>
        <p:nvPicPr>
          <p:cNvPr id="203" name="Google Shape;203;p31" title="summary_v_m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475" y="2185125"/>
            <a:ext cx="5029874" cy="245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134350"/>
            <a:ext cx="3423273" cy="32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b="1" lang="en-US" sz="2400"/>
              <a:t>Заключение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Реализован аналитический контур управления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Разработан ML-модуль выбора скорости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Проведено сравнение MLP, SAC, TD3 и PPO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SAC показал наиболее устойчивый результат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Дальнейшая работа: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• </a:t>
            </a:r>
            <a:r>
              <a:rPr lang="en-US" sz="1600"/>
              <a:t>р</a:t>
            </a:r>
            <a:r>
              <a:rPr lang="en-US" sz="1600"/>
              <a:t>асширение динамической модели квадрокоптера с учетом аэродинамических эффектов и ошибки измерений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тестирование adaptive-speed подхода на более сложных пространственных траекториях 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• </a:t>
            </a:r>
            <a:r>
              <a:rPr lang="en-US" sz="1600"/>
              <a:t>интеграция ML-модуля на реальный квадрокоптер</a:t>
            </a:r>
            <a:endParaRPr sz="1600"/>
          </a:p>
        </p:txBody>
      </p:sp>
      <p:sp>
        <p:nvSpPr>
          <p:cNvPr id="212" name="Google Shape;212;p32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8690725" y="4806900"/>
            <a:ext cx="333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1078025" y="25574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en-US" sz="2400"/>
              <a:t>Спасибо за внимание!</a:t>
            </a:r>
            <a:endParaRPr/>
          </a:p>
        </p:txBody>
      </p:sp>
      <p:sp>
        <p:nvSpPr>
          <p:cNvPr id="219" name="Google Shape;219;p33"/>
          <p:cNvSpPr txBox="1"/>
          <p:nvPr/>
        </p:nvSpPr>
        <p:spPr>
          <a:xfrm>
            <a:off x="11430000" y="621792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8538475" y="4806900"/>
            <a:ext cx="569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en-US" sz="2400"/>
              <a:t>Здесь должны быть предикты ответов</a:t>
            </a:r>
            <a:br>
              <a:rPr lang="en-US" sz="2400"/>
            </a:br>
            <a:r>
              <a:rPr lang="en-US" sz="2400"/>
              <a:t>на вопросы</a:t>
            </a:r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11430000" y="621792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8690725" y="4806900"/>
            <a:ext cx="408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11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